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Analysis of 3,900 transactions to uncover spending patterns, customer segments, product preferences, and subscription behavior to guide strategic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702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Dataset Summary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119193"/>
            <a:ext cx="2367558" cy="3491032"/>
          </a:xfrm>
          <a:prstGeom prst="roundRect">
            <a:avLst>
              <a:gd name="adj" fmla="val 8623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0320" dir="270000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514624" y="2353628"/>
            <a:ext cx="1898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Scope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2844046"/>
            <a:ext cx="18986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3,900 rows × 18 columns covering demographics, purchases, and behavior.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874562" y="2119193"/>
            <a:ext cx="2367558" cy="3491032"/>
          </a:xfrm>
          <a:prstGeom prst="roundRect">
            <a:avLst>
              <a:gd name="adj" fmla="val 8623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0320" dir="2700000">
              <a:srgbClr val="b5c1e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08996" y="2353628"/>
            <a:ext cx="1898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08996" y="2844046"/>
            <a:ext cx="189869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Age, Gender, Location, Subscription, Item, Category, Amount, Season, Size, Color.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1468933" y="2119193"/>
            <a:ext cx="2367558" cy="3491032"/>
          </a:xfrm>
          <a:prstGeom prst="roundRect">
            <a:avLst>
              <a:gd name="adj" fmla="val 8623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0320" dir="2700000">
              <a:srgbClr val="b5c1e2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703368" y="2353628"/>
            <a:ext cx="18986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Behavioral Fields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703368" y="3198376"/>
            <a:ext cx="189869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Discount applied, promo code used, previous purchases, frequency, rating, shipping.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5837039"/>
            <a:ext cx="7556302" cy="1322189"/>
          </a:xfrm>
          <a:prstGeom prst="roundRect">
            <a:avLst>
              <a:gd name="adj" fmla="val 15440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0320" dir="2700000">
              <a:srgbClr val="b5c1e2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14624" y="60714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 Quality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14624" y="6561892"/>
            <a:ext cx="70874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37 missing values in Review Rating column.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9987"/>
            <a:ext cx="101517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 Preparation &amp; Feature Engineering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54079"/>
            <a:ext cx="8284131" cy="4970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303264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Loaded data with pandas, inspected structure (df.info()) and summary stats (.describe()).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3596045"/>
            <a:ext cx="4205168" cy="326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Imputed Review Rating missing values using category median.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Renamed columns to snake_case for consistency.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Engineered age_group and purchase_frequency_days.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Dropped redundant promo_code_used after consistency check with discount_applied.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5356741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Database Integration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56" y="1789986"/>
            <a:ext cx="4255889" cy="56745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6049" y="4293870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Connected cleaned DataFrame to PostgreSQL and loaded data for structured SQL analysis to support business queries and dashboarding.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9324" y="510897"/>
            <a:ext cx="4964430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Revenue &amp; Demographics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324" y="2328505"/>
            <a:ext cx="7722632" cy="4324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17725" y="1385292"/>
            <a:ext cx="3960733" cy="746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Compared total revenue by gender and calculated revenue contribution by age group to identify high-value demographics for targeting.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725" y="2284928"/>
            <a:ext cx="3960733" cy="52808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1470" y="483275"/>
            <a:ext cx="11436191" cy="546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High-Value Discount Users &amp; Discount-Dependent Products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470" y="1383625"/>
            <a:ext cx="7694414" cy="4616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10224" y="3196352"/>
            <a:ext cx="3946088" cy="991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Identified customers who used discounts yet spent above average. Also flagged top 5 products with highest percentage of discounted purchases to review pricing strategy.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470" y="6303645"/>
            <a:ext cx="1154192" cy="1442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604135" y="6303645"/>
            <a:ext cx="218610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Top Rated Products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2604135" y="6657737"/>
            <a:ext cx="10744676" cy="74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Blouse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Dress</a:t>
            </a:r>
            <a:endParaRPr lang="en-US" sz="135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Shirt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1194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Product Performance &amp; Ratings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969663"/>
            <a:ext cx="3664744" cy="2047994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0320" dir="2700000">
              <a:srgbClr val="b5c1e2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514624" y="4204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Top 5 by Rating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4694515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Listed highest average review products to prioritize in campaigns and inventory.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3969663"/>
            <a:ext cx="3664863" cy="2047994"/>
          </a:xfrm>
          <a:prstGeom prst="roundRect">
            <a:avLst>
              <a:gd name="adj" fmla="val 9968"/>
            </a:avLst>
          </a:prstGeom>
          <a:solidFill>
            <a:srgbClr val="CFDBFC"/>
          </a:solidFill>
          <a:ln w="7620">
            <a:solidFill>
              <a:srgbClr val="B5C1E2"/>
            </a:solidFill>
            <a:prstDash val="solid"/>
          </a:ln>
          <a:effectLst>
            <a:outerShdw sx="100000" sy="100000" kx="0" ky="0" algn="bl" rotWithShape="0" blurRad="0" dist="20320" dir="2700000">
              <a:srgbClr val="b5c1e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406182" y="4204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Top 3 per Category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4694515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 purchased items within each category identified for merchandising focus.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4820" y="495657"/>
            <a:ext cx="5983724" cy="53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Shipping &amp; Subscription Insights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820" y="2371844"/>
            <a:ext cx="7524393" cy="4213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64028" y="1339334"/>
            <a:ext cx="3859054" cy="959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Compared average purchase amounts between Standard and Express shipping. Also compared subscribers vs. non-subscribers on average spend and total revenue to quantify subscription value.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028" y="2443520"/>
            <a:ext cx="3859054" cy="51454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2663" y="500896"/>
            <a:ext cx="8406646" cy="544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Customer Segmentation &amp; Repeat Behavior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2663" y="1313140"/>
            <a:ext cx="12024955" cy="60183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6833" y="3900379"/>
            <a:ext cx="2258391" cy="675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Low Average Spend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659638" y="6819094"/>
            <a:ext cx="3316449" cy="337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Low Subscription Likelihood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1003045" y="3900379"/>
            <a:ext cx="2258391" cy="675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High Average Spend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621348" y="1560152"/>
            <a:ext cx="3379515" cy="337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High Subscription Likelihood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4672343" y="5393335"/>
            <a:ext cx="2318454" cy="716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Loyal: &gt;5 purchases, high spend, high subscription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2817" y="4753658"/>
            <a:ext cx="336356" cy="3363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55712" y="5524912"/>
            <a:ext cx="2318455" cy="477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At-risk: prior buyers with declining spend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6762" y="4760790"/>
            <a:ext cx="336355" cy="3363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55712" y="3063619"/>
            <a:ext cx="2318455" cy="95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Returning: 2–5 purchases, moderate spend, rising subscription</a:t>
            </a:r>
            <a:endParaRPr lang="en-US" sz="1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46762" y="2538438"/>
            <a:ext cx="336355" cy="3363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00266" y="3302559"/>
            <a:ext cx="2318455" cy="477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7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New: 1 purchase, low spend, low subscription</a:t>
            </a:r>
            <a:endParaRPr lang="en-US" sz="17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1315" y="2538438"/>
            <a:ext cx="336356" cy="3363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02663" y="7482126"/>
            <a:ext cx="12024955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Segmented customers into New, Returning, and Loyal; analyzed whether &gt;5 purchases correlates with higher subscription rates and greater lifetime value.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3658" y="851535"/>
            <a:ext cx="9052798" cy="619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Business Recommendations &amp; Dashboard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93658" y="2222540"/>
            <a:ext cx="2697480" cy="2697123"/>
          </a:xfrm>
          <a:prstGeom prst="roundRect">
            <a:avLst>
              <a:gd name="adj" fmla="val 4068"/>
            </a:avLst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0" dist="17780" dir="2700000">
              <a:srgbClr val="b5c1e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93658" y="2199680"/>
            <a:ext cx="2697480" cy="91440"/>
          </a:xfrm>
          <a:prstGeom prst="roundRect">
            <a:avLst>
              <a:gd name="adj" fmla="val 195078"/>
            </a:avLst>
          </a:prstGeom>
          <a:solidFill>
            <a:srgbClr val="A2B9F9"/>
          </a:solidFill>
          <a:ln/>
        </p:spPr>
      </p:sp>
      <p:sp>
        <p:nvSpPr>
          <p:cNvPr id="5" name="Shape 3"/>
          <p:cNvSpPr/>
          <p:nvPr/>
        </p:nvSpPr>
        <p:spPr>
          <a:xfrm>
            <a:off x="1745159" y="1925360"/>
            <a:ext cx="594479" cy="594479"/>
          </a:xfrm>
          <a:prstGeom prst="roundRect">
            <a:avLst>
              <a:gd name="adj" fmla="val 153815"/>
            </a:avLst>
          </a:prstGeom>
          <a:solidFill>
            <a:srgbClr val="A2B9F9"/>
          </a:solidFill>
          <a:ln/>
        </p:spPr>
      </p:sp>
      <p:sp>
        <p:nvSpPr>
          <p:cNvPr id="6" name="Text 4"/>
          <p:cNvSpPr/>
          <p:nvPr/>
        </p:nvSpPr>
        <p:spPr>
          <a:xfrm>
            <a:off x="1923514" y="2073950"/>
            <a:ext cx="23776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14638" y="2717959"/>
            <a:ext cx="2255520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Boost Subscriptions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638" y="3200757"/>
            <a:ext cx="2255520" cy="118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Promote exclusive benefits to increase subscriber conversion and revenue.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564255" y="2222540"/>
            <a:ext cx="2697480" cy="2697123"/>
          </a:xfrm>
          <a:prstGeom prst="roundRect">
            <a:avLst>
              <a:gd name="adj" fmla="val 4068"/>
            </a:avLst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0" dist="17780" dir="2700000">
              <a:srgbClr val="b5c1e2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4255" y="2199680"/>
            <a:ext cx="2697480" cy="91440"/>
          </a:xfrm>
          <a:prstGeom prst="roundRect">
            <a:avLst>
              <a:gd name="adj" fmla="val 195078"/>
            </a:avLst>
          </a:prstGeom>
          <a:solidFill>
            <a:srgbClr val="A2B9F9"/>
          </a:solidFill>
          <a:ln/>
        </p:spPr>
      </p:sp>
      <p:sp>
        <p:nvSpPr>
          <p:cNvPr id="11" name="Shape 9"/>
          <p:cNvSpPr/>
          <p:nvPr/>
        </p:nvSpPr>
        <p:spPr>
          <a:xfrm>
            <a:off x="4615755" y="1925360"/>
            <a:ext cx="594479" cy="594479"/>
          </a:xfrm>
          <a:prstGeom prst="roundRect">
            <a:avLst>
              <a:gd name="adj" fmla="val 153815"/>
            </a:avLst>
          </a:prstGeom>
          <a:solidFill>
            <a:srgbClr val="A2B9F9"/>
          </a:solidFill>
          <a:ln/>
        </p:spPr>
      </p:sp>
      <p:sp>
        <p:nvSpPr>
          <p:cNvPr id="12" name="Text 10"/>
          <p:cNvSpPr/>
          <p:nvPr/>
        </p:nvSpPr>
        <p:spPr>
          <a:xfrm>
            <a:off x="4794111" y="2073950"/>
            <a:ext cx="23776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3785235" y="2717959"/>
            <a:ext cx="2255520" cy="61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Customer Loyalty Programs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785235" y="3510439"/>
            <a:ext cx="2255520" cy="89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Reward repeat buyers to move them into the Loyal segment.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34852" y="2222540"/>
            <a:ext cx="2697599" cy="2697123"/>
          </a:xfrm>
          <a:prstGeom prst="roundRect">
            <a:avLst>
              <a:gd name="adj" fmla="val 4068"/>
            </a:avLst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0" dist="17780" dir="2700000">
              <a:srgbClr val="b5c1e2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34852" y="2199680"/>
            <a:ext cx="2697599" cy="91440"/>
          </a:xfrm>
          <a:prstGeom prst="roundRect">
            <a:avLst>
              <a:gd name="adj" fmla="val 195078"/>
            </a:avLst>
          </a:prstGeom>
          <a:solidFill>
            <a:srgbClr val="A2B9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6352" y="1925360"/>
            <a:ext cx="594479" cy="594479"/>
          </a:xfrm>
          <a:prstGeom prst="roundRect">
            <a:avLst>
              <a:gd name="adj" fmla="val 153815"/>
            </a:avLst>
          </a:prstGeom>
          <a:solidFill>
            <a:srgbClr val="A2B9F9"/>
          </a:solidFill>
          <a:ln/>
        </p:spPr>
      </p:sp>
      <p:sp>
        <p:nvSpPr>
          <p:cNvPr id="18" name="Text 16"/>
          <p:cNvSpPr/>
          <p:nvPr/>
        </p:nvSpPr>
        <p:spPr>
          <a:xfrm>
            <a:off x="7664708" y="2073950"/>
            <a:ext cx="23776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655832" y="2717959"/>
            <a:ext cx="2255639" cy="61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Review Discount Policy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655832" y="3510439"/>
            <a:ext cx="2255639" cy="118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Balance sales uplift with margin control for discount-dependent products.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93658" y="5389959"/>
            <a:ext cx="8438793" cy="1793319"/>
          </a:xfrm>
          <a:prstGeom prst="roundRect">
            <a:avLst>
              <a:gd name="adj" fmla="val 6119"/>
            </a:avLst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0" dist="17780" dir="2700000">
              <a:srgbClr val="b5c1e2">
                <a:alpha val="10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3658" y="5367099"/>
            <a:ext cx="8438793" cy="91440"/>
          </a:xfrm>
          <a:prstGeom prst="roundRect">
            <a:avLst>
              <a:gd name="adj" fmla="val 195078"/>
            </a:avLst>
          </a:prstGeom>
          <a:solidFill>
            <a:srgbClr val="A2B9F9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5755" y="5092779"/>
            <a:ext cx="594479" cy="594479"/>
          </a:xfrm>
          <a:prstGeom prst="roundRect">
            <a:avLst>
              <a:gd name="adj" fmla="val 153815"/>
            </a:avLst>
          </a:prstGeom>
          <a:solidFill>
            <a:srgbClr val="A2B9F9"/>
          </a:solidFill>
          <a:ln/>
        </p:spPr>
      </p:sp>
      <p:sp>
        <p:nvSpPr>
          <p:cNvPr id="24" name="Text 22"/>
          <p:cNvSpPr/>
          <p:nvPr/>
        </p:nvSpPr>
        <p:spPr>
          <a:xfrm>
            <a:off x="4794111" y="5241369"/>
            <a:ext cx="23776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4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914638" y="5885378"/>
            <a:ext cx="3448526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Product Positioning &amp; Targeting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14638" y="6368177"/>
            <a:ext cx="7996833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Promote top-rated and best-selling products; focus marketing on high-revenue age groups and express-shipping users.</a:t>
            </a:r>
            <a:endParaRPr lang="en-US" sz="15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3465" y="2868930"/>
            <a:ext cx="4320778" cy="2620685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623465" y="5684401"/>
            <a:ext cx="4320778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Interactive Power BI dashboard built to present insights and support ongoing analysis.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2026-02-05T12:22:04Z</dcterms:created>
  <dcterms:modified xsi:type="dcterms:W3CDTF">2026-02-05T12:22:04Z</dcterms:modified>
</cp:coreProperties>
</file>